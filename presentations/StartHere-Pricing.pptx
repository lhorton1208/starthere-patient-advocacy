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end</c:v>
                </c:pt>
              </c:strCache>
            </c:strRef>
          </c:tx>
          <c:spPr>
            <a:solidFill>
              <a:srgbClr val="1A6E6E"/>
            </a:solidFill>
          </c:spPr>
          <c:cat>
            <c:strRef>
              <c:f>Sheet1!$A$2:$A$4</c:f>
              <c:strCache>
                <c:ptCount val="3"/>
                <c:pt idx="0">
                  <c:v>Hourly advocacy
($/hr)</c:v>
                </c:pt>
                <c:pt idx="1">
                  <c:v>Monthly care
navigation ($/mo)</c:v>
                </c:pt>
                <c:pt idx="2">
                  <c:v>Fixed-fee
packages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600</c:v>
                </c:pt>
                <c:pt idx="2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end</c:v>
                </c:pt>
              </c:strCache>
            </c:strRef>
          </c:tx>
          <c:spPr>
            <a:solidFill>
              <a:srgbClr val="D4833A"/>
            </a:solidFill>
          </c:spPr>
          <c:cat>
            <c:strRef>
              <c:f>Sheet1!$A$2:$A$4</c:f>
              <c:strCache>
                <c:ptCount val="3"/>
                <c:pt idx="0">
                  <c:v>Hourly advocacy
($/hr)</c:v>
                </c:pt>
                <c:pt idx="1">
                  <c:v>Monthly care
navigation ($/mo)</c:v>
                </c:pt>
                <c:pt idx="2">
                  <c:v>Fixed-fee
packages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125</c:v>
                </c:pt>
                <c:pt idx="1">
                  <c:v>1800</c:v>
                </c:pt>
                <c:pt idx="2">
                  <c:v>2500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 b="1">
                  <a:solidFill>
                    <a:srgbClr val="2C2C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rgbClr val="2C2C2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6B6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end</c:v>
                </c:pt>
              </c:strCache>
            </c:strRef>
          </c:tx>
          <c:spPr>
            <a:solidFill>
              <a:srgbClr val="1A6E6E"/>
            </a:solidFill>
          </c:spPr>
          <c:cat>
            <c:strRef>
              <c:f>Sheet1!$A$2:$A$6</c:f>
              <c:strCache>
                <c:ptCount val="5"/>
                <c:pt idx="0">
                  <c:v>ER Visit</c:v>
                </c:pt>
                <c:pt idx="1">
                  <c:v>Inpatient Stay</c:v>
                </c:pt>
                <c:pt idx="2">
                  <c:v>Hospital discharge</c:v>
                </c:pt>
                <c:pt idx="3">
                  <c:v>Outpatient procedure</c:v>
                </c:pt>
                <c:pt idx="4">
                  <c:v>After-encounter follow-up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600</c:v>
                </c:pt>
                <c:pt idx="2">
                  <c:v>750</c:v>
                </c:pt>
                <c:pt idx="3">
                  <c:v>350</c:v>
                </c:pt>
                <c:pt idx="4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end</c:v>
                </c:pt>
              </c:strCache>
            </c:strRef>
          </c:tx>
          <c:spPr>
            <a:solidFill>
              <a:srgbClr val="D4833A"/>
            </a:solidFill>
          </c:spPr>
          <c:cat>
            <c:strRef>
              <c:f>Sheet1!$A$2:$A$6</c:f>
              <c:strCache>
                <c:ptCount val="5"/>
                <c:pt idx="0">
                  <c:v>ER Visit</c:v>
                </c:pt>
                <c:pt idx="1">
                  <c:v>Inpatient Stay</c:v>
                </c:pt>
                <c:pt idx="2">
                  <c:v>Hospital discharge</c:v>
                </c:pt>
                <c:pt idx="3">
                  <c:v>Outpatient procedure</c:v>
                </c:pt>
                <c:pt idx="4">
                  <c:v>After-encounter follow-up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1500</c:v>
                </c:pt>
                <c:pt idx="1">
                  <c:v>2500</c:v>
                </c:pt>
                <c:pt idx="2">
                  <c:v>2000</c:v>
                </c:pt>
                <c:pt idx="3">
                  <c:v>900</c:v>
                </c:pt>
                <c:pt idx="4">
                  <c:v>750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 b="1">
                  <a:solidFill>
                    <a:srgbClr val="2C2C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rgbClr val="2C2C2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6B6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E6E"/>
                </a:solidFill>
                <a:latin typeface="Calibri"/>
              </a:rPr>
              <a:t>START HERE PATIENT ADVOCACY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C2C2C"/>
                </a:solidFill>
                <a:latin typeface="Calibri"/>
              </a:rPr>
              <a:t>Pricing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Calibri"/>
              </a:rPr>
              <a:t>Advocacy services, priced for the support you need.
All services are private pay.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6E6E"/>
                </a:solidFill>
                <a:latin typeface="Calibri"/>
              </a:rPr>
              <a:t>Free 30-minute initial consultation  ·  No insurance billing  ·  Flexible engagement options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E6E"/>
                </a:solidFill>
                <a:latin typeface="Calibri"/>
              </a:rPr>
              <a:t>Service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Calibri"/>
              </a:rPr>
              <a:t>Three ways to engage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85041"/>
                </a:solidFill>
                <a:latin typeface="Calibri"/>
              </a:rPr>
              <a:t>Pay as you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Calibri"/>
              </a:rPr>
              <a:t>Hourly advocacy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One-time needs — a single appointment, a specific question, or a short-term issue.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6E6E"/>
                </a:solidFill>
                <a:latin typeface="Calibri"/>
              </a:rPr>
              <a:t>$95–$125/hr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Billed in 30-minute increments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Appointment accompaniment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Insurance / billing questions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No long-term commitment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5204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A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1554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72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33806"/>
                </a:solidFill>
                <a:latin typeface="Calibri"/>
              </a:rPr>
              <a:t>Most chosen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Calibri"/>
              </a:rPr>
              <a:t>Monthly care 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331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Ongoing coordination across providers, appointments, and paperwork.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6E6E"/>
                </a:solidFill>
                <a:latin typeface="Calibri"/>
              </a:rPr>
              <a:t>$600–$1,800/mo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6–15 hours included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404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Dedicated advocate &amp; phone line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Scheduling &amp; coordination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Family updates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Priority response (24 hrs)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25880"/>
            <a:ext cx="35204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6760" y="1554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572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85041"/>
                </a:solidFill>
                <a:latin typeface="Calibri"/>
              </a:rPr>
              <a:t>Project-based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Calibri"/>
              </a:rPr>
              <a:t>Fixed-fee packages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31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Defined situations with a clear beginning and end — hospital stay or procedure.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6E6E"/>
                </a:solidFill>
                <a:latin typeface="Calibri"/>
              </a:rPr>
              <a:t>$300–$2,500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Per engagement, scoped upfront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8404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Flat fee, no surprises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Acute &amp; episodic events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✓  Scoped before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E6E"/>
                </a:solidFill>
                <a:latin typeface="Calibri"/>
              </a:rPr>
              <a:t>Pricing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Calibri"/>
              </a:rPr>
              <a:t>Tier price ranges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Low and high ends of each engagement option (USD)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97280" y="1645920"/>
          <a:ext cx="9875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E6E"/>
                </a:solidFill>
                <a:latin typeface="Calibri"/>
              </a:rPr>
              <a:t>Fixed-fee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Calibri"/>
              </a:rPr>
              <a:t>Common situations, scoped as a flat fee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E6E"/>
                </a:solidFill>
                <a:latin typeface="Calibri"/>
              </a:rPr>
              <a:t>Fixed-fee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Calibri"/>
              </a:rPr>
              <a:t>What’s included in each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411480"/>
          </a:xfrm>
          <a:prstGeom prst="roundRect">
            <a:avLst>
              <a:gd name="adj" fmla="val 8000"/>
            </a:avLst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53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Price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533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0881360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2C2C"/>
                </a:solidFill>
                <a:latin typeface="Calibri"/>
              </a:rPr>
              <a:t>ER Visit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E6E"/>
                </a:solidFill>
                <a:latin typeface="Calibri"/>
              </a:rPr>
              <a:t>$500–$1,500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4708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On-site or remote support during an ER visit — communicating with staff, tracking decisions, keeping family informed.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10881360" cy="795528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2C2C"/>
                </a:solidFill>
                <a:latin typeface="Calibri"/>
              </a:rPr>
              <a:t>Inpatient Stay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E6E"/>
                </a:solidFill>
                <a:latin typeface="Calibri"/>
              </a:rPr>
              <a:t>$600–$2,500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7157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Ongoing presence throughout a hospital stay — daily updates, care team communication, decision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10881360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2C2C"/>
                </a:solidFill>
                <a:latin typeface="Calibri"/>
              </a:rPr>
              <a:t>Hospital discharge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E6E"/>
                </a:solidFill>
                <a:latin typeface="Calibri"/>
              </a:rPr>
              <a:t>$750–$2,000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58444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Safe transition home or to rehab, including follow-up care setup and home health referrals.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10881360" cy="795528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2C2C"/>
                </a:solidFill>
                <a:latin typeface="Calibri"/>
              </a:rPr>
              <a:t>Outpatient procedure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E6E"/>
                </a:solidFill>
                <a:latin typeface="Calibri"/>
              </a:rPr>
              <a:t>$350–$900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45312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Accompaniment and coordination before, during, and after a scheduled outpatient procedure.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12080"/>
            <a:ext cx="10881360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2C2C"/>
                </a:solidFill>
                <a:latin typeface="Calibri"/>
              </a:rPr>
              <a:t>After-encounter follow-up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E6E"/>
                </a:solidFill>
                <a:latin typeface="Calibri"/>
              </a:rPr>
              <a:t>$300–$750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218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Review discharge instructions, schedule follow-ups, confirm nothing falls through the cracks.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E6E"/>
                </a:solidFill>
                <a:latin typeface="Calibri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Calibri"/>
              </a:rPr>
              <a:t>Key points for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728" cy="1234440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Free initial consultation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Every relationship starts with a complimentary 30-minute conversation to understand the situation and recommend the right level of support — no obligation.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109728" cy="1234440"/>
          </a:xfrm>
          <a:prstGeom prst="rect">
            <a:avLst/>
          </a:prstGeom>
          <a:solidFill>
            <a:srgbClr val="D4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Private pay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StartHere Patient Advocacy is not a medical provider and does not bill insurance or Medicare directly. All services are private pay.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109728" cy="1234440"/>
          </a:xfrm>
          <a:prstGeom prst="rect">
            <a:avLst/>
          </a:prstGeom>
          <a:solidFill>
            <a:srgbClr val="1A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Flexible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Choose hourly for one-time needs, a monthly retainer for ongoing navigation, or a fixed-fee package for a defined care event.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